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7"/>
  </p:notesMasterIdLst>
  <p:sldIdLst>
    <p:sldId id="283" r:id="rId2"/>
    <p:sldId id="257" r:id="rId3"/>
    <p:sldId id="282" r:id="rId4"/>
    <p:sldId id="285" r:id="rId5"/>
    <p:sldId id="278" r:id="rId6"/>
    <p:sldId id="281" r:id="rId7"/>
    <p:sldId id="279" r:id="rId8"/>
    <p:sldId id="262" r:id="rId9"/>
    <p:sldId id="264" r:id="rId10"/>
    <p:sldId id="286" r:id="rId11"/>
    <p:sldId id="287" r:id="rId12"/>
    <p:sldId id="280" r:id="rId13"/>
    <p:sldId id="288" r:id="rId14"/>
    <p:sldId id="289" r:id="rId15"/>
    <p:sldId id="276"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DDC25A-3BB4-417E-A253-0A76CB3E3CF0}" v="2" dt="2026-07-14T13:53:08.62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shakha Kadam" userId="3da808a227d536c0" providerId="LiveId" clId="{94B22E13-E119-4E64-A7CF-786A418AED71}"/>
    <pc:docChg chg="undo redo custSel delSld modSld">
      <pc:chgData name="Vishakha Kadam" userId="3da808a227d536c0" providerId="LiveId" clId="{94B22E13-E119-4E64-A7CF-786A418AED71}" dt="2026-07-15T03:36:33.585" v="122" actId="20577"/>
      <pc:docMkLst>
        <pc:docMk/>
      </pc:docMkLst>
      <pc:sldChg chg="addSp delSp modSp mod">
        <pc:chgData name="Vishakha Kadam" userId="3da808a227d536c0" providerId="LiveId" clId="{94B22E13-E119-4E64-A7CF-786A418AED71}" dt="2026-07-14T13:48:13.583" v="72" actId="1076"/>
        <pc:sldMkLst>
          <pc:docMk/>
          <pc:sldMk cId="0" sldId="257"/>
        </pc:sldMkLst>
        <pc:spChg chg="del mod">
          <ac:chgData name="Vishakha Kadam" userId="3da808a227d536c0" providerId="LiveId" clId="{94B22E13-E119-4E64-A7CF-786A418AED71}" dt="2026-07-14T12:09:36.795" v="28"/>
          <ac:spMkLst>
            <pc:docMk/>
            <pc:sldMk cId="0" sldId="257"/>
            <ac:spMk id="3" creationId="{B0B023FA-CFEB-ACE9-8425-7E72E307CDC5}"/>
          </ac:spMkLst>
        </pc:spChg>
        <pc:spChg chg="add del">
          <ac:chgData name="Vishakha Kadam" userId="3da808a227d536c0" providerId="LiveId" clId="{94B22E13-E119-4E64-A7CF-786A418AED71}" dt="2026-07-14T12:11:17.347" v="66" actId="478"/>
          <ac:spMkLst>
            <pc:docMk/>
            <pc:sldMk cId="0" sldId="257"/>
            <ac:spMk id="6" creationId="{4263A2B8-C892-9BEE-7027-6F7888CCC733}"/>
          </ac:spMkLst>
        </pc:spChg>
        <pc:graphicFrameChg chg="modGraphic">
          <ac:chgData name="Vishakha Kadam" userId="3da808a227d536c0" providerId="LiveId" clId="{94B22E13-E119-4E64-A7CF-786A418AED71}" dt="2026-07-14T12:11:13.019" v="64" actId="20577"/>
          <ac:graphicFrameMkLst>
            <pc:docMk/>
            <pc:sldMk cId="0" sldId="257"/>
            <ac:graphicFrameMk id="96" creationId="{00000000-0000-0000-0000-000000000000}"/>
          </ac:graphicFrameMkLst>
        </pc:graphicFrameChg>
        <pc:picChg chg="del">
          <ac:chgData name="Vishakha Kadam" userId="3da808a227d536c0" providerId="LiveId" clId="{94B22E13-E119-4E64-A7CF-786A418AED71}" dt="2026-07-14T13:48:04.271" v="68" actId="478"/>
          <ac:picMkLst>
            <pc:docMk/>
            <pc:sldMk cId="0" sldId="257"/>
            <ac:picMk id="5" creationId="{044F53B8-08A2-F4C1-6F55-95DE237494C0}"/>
          </ac:picMkLst>
        </pc:picChg>
        <pc:picChg chg="add mod">
          <ac:chgData name="Vishakha Kadam" userId="3da808a227d536c0" providerId="LiveId" clId="{94B22E13-E119-4E64-A7CF-786A418AED71}" dt="2026-07-14T13:48:13.583" v="72" actId="1076"/>
          <ac:picMkLst>
            <pc:docMk/>
            <pc:sldMk cId="0" sldId="257"/>
            <ac:picMk id="9" creationId="{650CA317-3B66-CC5A-FEDD-9319D21E08ED}"/>
          </ac:picMkLst>
        </pc:picChg>
      </pc:sldChg>
      <pc:sldChg chg="addSp delSp modSp mod">
        <pc:chgData name="Vishakha Kadam" userId="3da808a227d536c0" providerId="LiveId" clId="{94B22E13-E119-4E64-A7CF-786A418AED71}" dt="2026-07-15T03:33:44.440" v="85" actId="1076"/>
        <pc:sldMkLst>
          <pc:docMk/>
          <pc:sldMk cId="0" sldId="262"/>
        </pc:sldMkLst>
        <pc:picChg chg="del">
          <ac:chgData name="Vishakha Kadam" userId="3da808a227d536c0" providerId="LiveId" clId="{94B22E13-E119-4E64-A7CF-786A418AED71}" dt="2026-07-15T03:33:05.884" v="79" actId="478"/>
          <ac:picMkLst>
            <pc:docMk/>
            <pc:sldMk cId="0" sldId="262"/>
            <ac:picMk id="3" creationId="{81932CE2-F219-0CA8-0102-55B8C682B8A2}"/>
          </ac:picMkLst>
        </pc:picChg>
        <pc:picChg chg="add mod">
          <ac:chgData name="Vishakha Kadam" userId="3da808a227d536c0" providerId="LiveId" clId="{94B22E13-E119-4E64-A7CF-786A418AED71}" dt="2026-07-15T03:33:44.440" v="85" actId="1076"/>
          <ac:picMkLst>
            <pc:docMk/>
            <pc:sldMk cId="0" sldId="262"/>
            <ac:picMk id="5" creationId="{57403DE7-62E0-515C-8175-9FDF3B6AA40C}"/>
          </ac:picMkLst>
        </pc:picChg>
      </pc:sldChg>
      <pc:sldChg chg="del">
        <pc:chgData name="Vishakha Kadam" userId="3da808a227d536c0" providerId="LiveId" clId="{94B22E13-E119-4E64-A7CF-786A418AED71}" dt="2026-07-15T03:25:44.259" v="78" actId="47"/>
        <pc:sldMkLst>
          <pc:docMk/>
          <pc:sldMk cId="2115484872" sldId="277"/>
        </pc:sldMkLst>
      </pc:sldChg>
      <pc:sldChg chg="modSp mod">
        <pc:chgData name="Vishakha Kadam" userId="3da808a227d536c0" providerId="LiveId" clId="{94B22E13-E119-4E64-A7CF-786A418AED71}" dt="2026-07-15T03:34:31.437" v="115" actId="20577"/>
        <pc:sldMkLst>
          <pc:docMk/>
          <pc:sldMk cId="3764405840" sldId="278"/>
        </pc:sldMkLst>
        <pc:spChg chg="mod">
          <ac:chgData name="Vishakha Kadam" userId="3da808a227d536c0" providerId="LiveId" clId="{94B22E13-E119-4E64-A7CF-786A418AED71}" dt="2026-07-15T03:34:31.437" v="115" actId="20577"/>
          <ac:spMkLst>
            <pc:docMk/>
            <pc:sldMk cId="3764405840" sldId="278"/>
            <ac:spMk id="3" creationId="{4A7608B5-9906-EFCF-959A-E89FC2E3EE19}"/>
          </ac:spMkLst>
        </pc:spChg>
      </pc:sldChg>
      <pc:sldChg chg="addSp delSp modSp mod">
        <pc:chgData name="Vishakha Kadam" userId="3da808a227d536c0" providerId="LiveId" clId="{94B22E13-E119-4E64-A7CF-786A418AED71}" dt="2026-07-15T03:36:23.954" v="121" actId="1076"/>
        <pc:sldMkLst>
          <pc:docMk/>
          <pc:sldMk cId="2772501912" sldId="279"/>
        </pc:sldMkLst>
        <pc:spChg chg="mod">
          <ac:chgData name="Vishakha Kadam" userId="3da808a227d536c0" providerId="LiveId" clId="{94B22E13-E119-4E64-A7CF-786A418AED71}" dt="2026-07-15T03:34:17.288" v="112" actId="20577"/>
          <ac:spMkLst>
            <pc:docMk/>
            <pc:sldMk cId="2772501912" sldId="279"/>
            <ac:spMk id="2" creationId="{B64CF172-D2AF-03D8-F919-AA7827A0D969}"/>
          </ac:spMkLst>
        </pc:spChg>
        <pc:picChg chg="del">
          <ac:chgData name="Vishakha Kadam" userId="3da808a227d536c0" providerId="LiveId" clId="{94B22E13-E119-4E64-A7CF-786A418AED71}" dt="2026-07-15T03:36:07.187" v="116" actId="478"/>
          <ac:picMkLst>
            <pc:docMk/>
            <pc:sldMk cId="2772501912" sldId="279"/>
            <ac:picMk id="4" creationId="{C597681A-DF93-B190-DD21-CBAEDA4E3CBF}"/>
          </ac:picMkLst>
        </pc:picChg>
        <pc:picChg chg="add mod">
          <ac:chgData name="Vishakha Kadam" userId="3da808a227d536c0" providerId="LiveId" clId="{94B22E13-E119-4E64-A7CF-786A418AED71}" dt="2026-07-15T03:36:23.954" v="121" actId="1076"/>
          <ac:picMkLst>
            <pc:docMk/>
            <pc:sldMk cId="2772501912" sldId="279"/>
            <ac:picMk id="5" creationId="{952A7402-A987-1250-F22B-B263A463A250}"/>
          </ac:picMkLst>
        </pc:picChg>
      </pc:sldChg>
      <pc:sldChg chg="modSp mod">
        <pc:chgData name="Vishakha Kadam" userId="3da808a227d536c0" providerId="LiveId" clId="{94B22E13-E119-4E64-A7CF-786A418AED71}" dt="2026-07-15T03:36:33.585" v="122" actId="20577"/>
        <pc:sldMkLst>
          <pc:docMk/>
          <pc:sldMk cId="2605851928" sldId="287"/>
        </pc:sldMkLst>
        <pc:spChg chg="mod">
          <ac:chgData name="Vishakha Kadam" userId="3da808a227d536c0" providerId="LiveId" clId="{94B22E13-E119-4E64-A7CF-786A418AED71}" dt="2026-07-15T03:36:33.585" v="122" actId="20577"/>
          <ac:spMkLst>
            <pc:docMk/>
            <pc:sldMk cId="2605851928" sldId="287"/>
            <ac:spMk id="279" creationId="{3711AF54-94A6-B837-31EF-9A8C4ECB9AF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vishakha2609/ShopGenie-AI-Intelligent-Shopping-Assistant"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300331047"/>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Vishakha Shivaji Kadam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vishakhakadam266@gmail.com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9860823566</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523220"/>
          </a:xfrm>
          <a:prstGeom prst="rect">
            <a:avLst/>
          </a:prstGeom>
          <a:noFill/>
        </p:spPr>
        <p:txBody>
          <a:bodyPr wrap="square" rtlCol="0">
            <a:spAutoFit/>
          </a:bodyPr>
          <a:lstStyle/>
          <a:p>
            <a:r>
              <a:rPr lang="en-US" sz="2400" b="1" dirty="0"/>
              <a:t>Domain of  Project – </a:t>
            </a:r>
            <a:r>
              <a:rPr lang="en-IN" sz="2800" dirty="0">
                <a:highlight>
                  <a:srgbClr val="FFFF00"/>
                </a:highlight>
              </a:rPr>
              <a:t>E-Commerce</a:t>
            </a: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5835"/>
            <a:ext cx="9581177" cy="523220"/>
          </a:xfrm>
          <a:prstGeom prst="rect">
            <a:avLst/>
          </a:prstGeom>
          <a:noFill/>
        </p:spPr>
        <p:txBody>
          <a:bodyPr wrap="square" rtlCol="0">
            <a:spAutoFit/>
          </a:bodyPr>
          <a:lstStyle/>
          <a:p>
            <a:r>
              <a:rPr lang="en-US" sz="2400" b="1" dirty="0"/>
              <a:t>Project Tile – </a:t>
            </a:r>
            <a:r>
              <a:rPr lang="en-IN" sz="2800" dirty="0" err="1">
                <a:highlight>
                  <a:srgbClr val="FFFF00"/>
                </a:highlight>
              </a:rPr>
              <a:t>ShopGenie</a:t>
            </a:r>
            <a:r>
              <a:rPr lang="en-IN" sz="2800" dirty="0">
                <a:highlight>
                  <a:srgbClr val="FFFF00"/>
                </a:highlight>
              </a:rPr>
              <a:t> AI: Intelligent Shopping Assistant</a:t>
            </a:r>
          </a:p>
        </p:txBody>
      </p:sp>
      <p:pic>
        <p:nvPicPr>
          <p:cNvPr id="9" name="Picture 8">
            <a:extLst>
              <a:ext uri="{FF2B5EF4-FFF2-40B4-BE49-F238E27FC236}">
                <a16:creationId xmlns:a16="http://schemas.microsoft.com/office/drawing/2014/main" id="{650CA317-3B66-CC5A-FEDD-9319D21E08ED}"/>
              </a:ext>
            </a:extLst>
          </p:cNvPr>
          <p:cNvPicPr>
            <a:picLocks noChangeAspect="1"/>
          </p:cNvPicPr>
          <p:nvPr/>
        </p:nvPicPr>
        <p:blipFill>
          <a:blip r:embed="rId3"/>
          <a:stretch>
            <a:fillRect/>
          </a:stretch>
        </p:blipFill>
        <p:spPr>
          <a:xfrm>
            <a:off x="4082040" y="3628230"/>
            <a:ext cx="991556" cy="99637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4524315"/>
          </a:xfrm>
          <a:prstGeom prst="rect">
            <a:avLst/>
          </a:prstGeom>
          <a:noFill/>
        </p:spPr>
        <p:txBody>
          <a:bodyPr wrap="square" rtlCol="0">
            <a:spAutoFit/>
          </a:bodyPr>
          <a:lstStyle/>
          <a:p>
            <a:pPr fontAlgn="base"/>
            <a:r>
              <a:rPr lang="en-US" sz="1600" b="1" dirty="0"/>
              <a:t>Problem Statement : </a:t>
            </a:r>
            <a:r>
              <a:rPr lang="en-IN" sz="1600" b="1" dirty="0"/>
              <a:t>Intelligent Shopping Agent</a:t>
            </a:r>
            <a:endParaRPr lang="en-US" sz="1600" b="1" dirty="0"/>
          </a:p>
          <a:p>
            <a:pPr fontAlgn="base"/>
            <a:r>
              <a:rPr lang="en-US" sz="1600" b="1" dirty="0"/>
              <a:t>The Challenge</a:t>
            </a:r>
            <a:r>
              <a:rPr lang="en-US" sz="1600" dirty="0"/>
              <a:t> </a:t>
            </a:r>
          </a:p>
          <a:p>
            <a:pPr fontAlgn="base"/>
            <a:r>
              <a:rPr lang="en-IN" sz="1600" dirty="0"/>
              <a:t>Shoppers today face an overload of product options, scattered reviews, and dynamic pricing across e-commerce platforms. Finding the right product that balances price, quality, and personal preferences is time-consuming and frustrating. Traditional recommendation systems often fail to capture real-time trends, personalized needs, or contextual factors like urgency, budget, or sustainability. The challenge is not just to recommend products but to act as a smart shopping companion that helps buyers make informed and confident decisions.</a:t>
            </a:r>
            <a:endParaRPr lang="en-US" sz="1600" dirty="0"/>
          </a:p>
          <a:p>
            <a:pPr fontAlgn="base"/>
            <a:r>
              <a:rPr lang="en-US" sz="1600" b="1" dirty="0"/>
              <a:t>The Objective</a:t>
            </a:r>
            <a:r>
              <a:rPr lang="en-US" sz="1600" dirty="0"/>
              <a:t> </a:t>
            </a:r>
          </a:p>
          <a:p>
            <a:r>
              <a:rPr lang="en-IN" sz="1600" dirty="0"/>
              <a:t>Build an agentic AI shopping assistant that provides intelligent, personalized, and real-time support. The solution should: </a:t>
            </a:r>
          </a:p>
          <a:p>
            <a:pPr marL="342900" indent="-342900">
              <a:buAutoNum type="arabicPeriod"/>
            </a:pPr>
            <a:r>
              <a:rPr lang="en-IN" sz="1600" b="1" dirty="0"/>
              <a:t>Fuse Multisource Data</a:t>
            </a:r>
            <a:r>
              <a:rPr lang="en-IN" sz="1600" dirty="0"/>
              <a:t>: Aggregate product details, reviews, ratings, and price comparisons across multiple e-commerce sites into unified insights. </a:t>
            </a:r>
          </a:p>
          <a:p>
            <a:pPr marL="342900" indent="-342900">
              <a:buAutoNum type="arabicPeriod"/>
            </a:pPr>
            <a:r>
              <a:rPr lang="en-IN" sz="1600" b="1" dirty="0"/>
              <a:t>Enable Multimodal Search</a:t>
            </a:r>
            <a:r>
              <a:rPr lang="en-IN" sz="1600" dirty="0"/>
              <a:t>: Allow users to input voice queries, images (e.g., a photo of a product), or text descriptions to find best-matching products. </a:t>
            </a:r>
          </a:p>
          <a:p>
            <a:pPr marL="342900" indent="-342900">
              <a:buAutoNum type="arabicPeriod"/>
            </a:pPr>
            <a:r>
              <a:rPr lang="en-IN" sz="1600" b="1" dirty="0"/>
              <a:t>Create a Predictive &amp; Agentic Layer</a:t>
            </a:r>
            <a:r>
              <a:rPr lang="en-IN" sz="1600" dirty="0"/>
              <a:t>: Suggest purchase timing (e.g., discounts, seasonal offers), recommend alternatives, and alert users about price drops or fake reviews. </a:t>
            </a:r>
          </a:p>
          <a:p>
            <a:pPr marL="342900" indent="-342900">
              <a:buAutoNum type="arabicPeriod"/>
            </a:pPr>
            <a:r>
              <a:rPr lang="en-IN" sz="1600" b="1" dirty="0"/>
              <a:t>Visualize Smart Shopping Pulse</a:t>
            </a:r>
            <a:r>
              <a:rPr lang="en-IN" sz="1600" dirty="0"/>
              <a:t>: Provide a dashboard summarizing comparisons, sustainability scores, trending products, and personalized shopping lists.</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1173476" cy="4770537"/>
          </a:xfrm>
          <a:prstGeom prst="rect">
            <a:avLst/>
          </a:prstGeom>
          <a:noFill/>
        </p:spPr>
        <p:txBody>
          <a:bodyPr wrap="square" rtlCol="0">
            <a:spAutoFit/>
          </a:bodyPr>
          <a:lstStyle/>
          <a:p>
            <a:pPr fontAlgn="base"/>
            <a:r>
              <a:rPr lang="en-IN" sz="1600" dirty="0"/>
              <a:t>The proposed solution is an </a:t>
            </a:r>
            <a:r>
              <a:rPr lang="en-IN" sz="1600" b="1" dirty="0"/>
              <a:t>AI-powered Intelligent Shopping Agent</a:t>
            </a:r>
            <a:r>
              <a:rPr lang="en-IN" sz="1600" dirty="0"/>
              <a:t> built using </a:t>
            </a:r>
            <a:r>
              <a:rPr lang="en-IN" sz="1600" b="1" dirty="0"/>
              <a:t>IBM </a:t>
            </a:r>
            <a:r>
              <a:rPr lang="en-IN" sz="1600" b="1" dirty="0" err="1"/>
              <a:t>watsonx</a:t>
            </a:r>
            <a:r>
              <a:rPr lang="en-IN" sz="1600" b="1" dirty="0"/>
              <a:t> Orchestrate, </a:t>
            </a:r>
            <a:r>
              <a:rPr lang="en-IN" sz="1600" b="1" dirty="0" err="1"/>
              <a:t>LangFlow</a:t>
            </a:r>
            <a:r>
              <a:rPr lang="en-IN" sz="1600" b="1" dirty="0"/>
              <a:t>, and Granite Models</a:t>
            </a:r>
            <a:r>
              <a:rPr lang="en-IN" sz="1600" dirty="0"/>
              <a:t> to provide personalized and real-time shopping assistance. The system helps users overcome challenges like product overload, scattered reviews, price variations, and difficulty in selecting the right product.</a:t>
            </a:r>
          </a:p>
          <a:p>
            <a:r>
              <a:rPr lang="en-IN" sz="1600" dirty="0"/>
              <a:t>The solution uses AI-based analysis to understand user requirements and provide intelligent recommendations by </a:t>
            </a:r>
            <a:r>
              <a:rPr lang="en-IN" sz="1600" dirty="0" err="1"/>
              <a:t>analyzing</a:t>
            </a:r>
            <a:r>
              <a:rPr lang="en-IN" sz="1600" dirty="0"/>
              <a:t> product details, ratings, reviews, pricing trends, and preferences.</a:t>
            </a:r>
          </a:p>
          <a:p>
            <a:endParaRPr lang="en-IN" sz="1600" dirty="0"/>
          </a:p>
          <a:p>
            <a:r>
              <a:rPr lang="en-IN" sz="1600" dirty="0"/>
              <a:t>The system consists of four key capabilities:</a:t>
            </a:r>
          </a:p>
          <a:p>
            <a:r>
              <a:rPr lang="en-IN" sz="1600" b="1" dirty="0"/>
              <a:t>Product Discovery Agent:</a:t>
            </a:r>
            <a:r>
              <a:rPr lang="en-IN" sz="1600" dirty="0"/>
              <a:t> Finds suitable products based on user needs, budget, category, and preferences.</a:t>
            </a:r>
          </a:p>
          <a:p>
            <a:r>
              <a:rPr lang="en-IN" sz="1600" b="1" dirty="0"/>
              <a:t>Recommendation Agent:</a:t>
            </a:r>
            <a:r>
              <a:rPr lang="en-IN" sz="1600" dirty="0"/>
              <a:t> Provides personalized suggestions and alternative products with reasons.</a:t>
            </a:r>
          </a:p>
          <a:p>
            <a:r>
              <a:rPr lang="en-IN" sz="1600" b="1" dirty="0"/>
              <a:t>Review &amp; Price Intelligence Agent:</a:t>
            </a:r>
            <a:r>
              <a:rPr lang="en-IN" sz="1600" dirty="0"/>
              <a:t> </a:t>
            </a:r>
            <a:r>
              <a:rPr lang="en-IN" sz="1600" dirty="0" err="1"/>
              <a:t>Analyzes</a:t>
            </a:r>
            <a:r>
              <a:rPr lang="en-IN" sz="1600" dirty="0"/>
              <a:t> reviews, ratings, and pricing trends to identify quality products and better deals.</a:t>
            </a:r>
          </a:p>
          <a:p>
            <a:r>
              <a:rPr lang="en-IN" sz="1600" b="1" dirty="0"/>
              <a:t>Shopping Advisor Agent:</a:t>
            </a:r>
            <a:r>
              <a:rPr lang="en-IN" sz="1600" dirty="0"/>
              <a:t> Helps users compare products, answer queries, and make informed purchase decisions.</a:t>
            </a:r>
          </a:p>
          <a:p>
            <a:endParaRPr lang="en-IN" sz="1600" dirty="0"/>
          </a:p>
          <a:p>
            <a:r>
              <a:rPr lang="en-IN" sz="1600" dirty="0"/>
              <a:t>The system supports text, voice, and image-based queries for better product discovery. </a:t>
            </a:r>
            <a:r>
              <a:rPr lang="en-IN" sz="1600" b="1" dirty="0" err="1"/>
              <a:t>LangFlow</a:t>
            </a:r>
            <a:r>
              <a:rPr lang="en-IN" sz="1600" dirty="0"/>
              <a:t> manages AI workflows, </a:t>
            </a:r>
            <a:r>
              <a:rPr lang="en-IN" sz="1600" b="1" dirty="0"/>
              <a:t>IBM </a:t>
            </a:r>
            <a:r>
              <a:rPr lang="en-IN" sz="1600" b="1" dirty="0" err="1"/>
              <a:t>watsonx</a:t>
            </a:r>
            <a:r>
              <a:rPr lang="en-IN" sz="1600" b="1" dirty="0"/>
              <a:t> Orchestrate</a:t>
            </a:r>
            <a:r>
              <a:rPr lang="en-IN" sz="1600" dirty="0"/>
              <a:t> handles agent interactions, and </a:t>
            </a:r>
            <a:r>
              <a:rPr lang="en-IN" sz="1600" b="1" dirty="0"/>
              <a:t>Granite Models</a:t>
            </a:r>
            <a:r>
              <a:rPr lang="en-IN" sz="1600" dirty="0"/>
              <a:t> provide reasoning and intelligent responses.</a:t>
            </a:r>
          </a:p>
          <a:p>
            <a:r>
              <a:rPr lang="en-IN" sz="1600" dirty="0"/>
              <a:t>Overall, </a:t>
            </a:r>
            <a:r>
              <a:rPr lang="en-IN" sz="1600" b="1" dirty="0" err="1"/>
              <a:t>ShopGenie</a:t>
            </a:r>
            <a:r>
              <a:rPr lang="en-IN" sz="1600" b="1" dirty="0"/>
              <a:t> AI acts as a smart shopping companion that enables faster, personalized, and confident purchasing decisions.</a:t>
            </a:r>
            <a:endParaRPr lang="en-IN" sz="1600" dirty="0"/>
          </a:p>
          <a:p>
            <a:pPr fontAlgn="base"/>
            <a:endParaRPr lang="en-IN" sz="1600"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830997"/>
          </a:xfrm>
          <a:prstGeom prst="rect">
            <a:avLst/>
          </a:prstGeom>
          <a:noFill/>
        </p:spPr>
        <p:txBody>
          <a:bodyPr wrap="square" lIns="91440" tIns="45720" rIns="91440" bIns="45720" rtlCol="0" anchor="t">
            <a:spAutoFit/>
          </a:bodyPr>
          <a:lstStyle/>
          <a:p>
            <a:endParaRPr lang="en-US" sz="2400" b="1" dirty="0"/>
          </a:p>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3139321"/>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endParaRPr lang="en-IN" sz="1800" b="1" dirty="0"/>
          </a:p>
          <a:p>
            <a:pPr marL="285750" indent="-285750">
              <a:buFont typeface="Arial" panose="020B0604020202020204" pitchFamily="34" charset="0"/>
              <a:buChar char="•"/>
            </a:pPr>
            <a:r>
              <a:rPr lang="en-IN" sz="1800" b="1" dirty="0"/>
              <a:t>IBM </a:t>
            </a:r>
            <a:r>
              <a:rPr lang="en-IN" sz="1800" b="1" dirty="0" err="1"/>
              <a:t>watsonx</a:t>
            </a:r>
            <a:r>
              <a:rPr lang="en-IN" sz="1800" b="1" dirty="0"/>
              <a:t> Orchestrate</a:t>
            </a:r>
            <a:r>
              <a:rPr lang="en-IN" sz="1800" dirty="0"/>
              <a:t> – For building and deploying the intelligent shopping agent and managing user interactions. </a:t>
            </a:r>
          </a:p>
          <a:p>
            <a:endParaRPr lang="en-IN" sz="1800" dirty="0"/>
          </a:p>
          <a:p>
            <a:pPr marL="285750" indent="-285750">
              <a:buFont typeface="Arial" panose="020B0604020202020204" pitchFamily="34" charset="0"/>
              <a:buChar char="•"/>
            </a:pPr>
            <a:r>
              <a:rPr lang="en-IN" sz="1800" b="1" dirty="0"/>
              <a:t>IBM Granite Models</a:t>
            </a:r>
            <a:r>
              <a:rPr lang="en-IN" sz="1800" dirty="0"/>
              <a:t> – For natural language understanding, reasoning, and generating personalized shopping responses. </a:t>
            </a:r>
          </a:p>
          <a:p>
            <a:pPr marL="285750" indent="-285750">
              <a:buFont typeface="Arial" panose="020B0604020202020204" pitchFamily="34" charset="0"/>
              <a:buChar char="•"/>
            </a:pPr>
            <a:endParaRPr lang="en-IN" sz="1800" dirty="0"/>
          </a:p>
          <a:p>
            <a:pPr marL="285750" indent="-285750">
              <a:buFont typeface="Arial" panose="020B0604020202020204" pitchFamily="34" charset="0"/>
              <a:buChar char="•"/>
            </a:pPr>
            <a:r>
              <a:rPr lang="en-IN" sz="1800" b="1" dirty="0"/>
              <a:t>IBM Cloud</a:t>
            </a:r>
            <a:r>
              <a:rPr lang="en-IN" sz="1800" dirty="0"/>
              <a:t> – Provides scalable infrastructure for running AI services.</a:t>
            </a:r>
          </a:p>
          <a:p>
            <a:pPr marL="285750" indent="-285750">
              <a:buFont typeface="Arial" panose="020B0604020202020204" pitchFamily="34" charset="0"/>
              <a:buChar char="•"/>
            </a:pPr>
            <a:r>
              <a:rPr lang="en-IN" sz="1800" dirty="0"/>
              <a:t> </a:t>
            </a:r>
          </a:p>
          <a:p>
            <a:pPr marL="285750" indent="-285750">
              <a:buFont typeface="Arial" panose="020B0604020202020204" pitchFamily="34" charset="0"/>
              <a:buChar char="•"/>
            </a:pPr>
            <a:r>
              <a:rPr lang="en-IN" sz="1800" b="1" dirty="0"/>
              <a:t>Retrieval-Augmented Generation (RAG)</a:t>
            </a:r>
            <a:r>
              <a:rPr lang="en-IN" sz="1800" dirty="0"/>
              <a:t> – For retrieving relevant product information and generating accurate responses. </a:t>
            </a:r>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537590" y="1043731"/>
            <a:ext cx="10445042" cy="4770537"/>
          </a:xfrm>
          <a:prstGeom prst="rect">
            <a:avLst/>
          </a:prstGeom>
          <a:noFill/>
        </p:spPr>
        <p:txBody>
          <a:bodyPr wrap="square" rtlCol="0">
            <a:spAutoFit/>
          </a:bodyPr>
          <a:lstStyle/>
          <a:p>
            <a:pPr lvl="1"/>
            <a:r>
              <a:rPr lang="en-IN" sz="1600" b="1" dirty="0"/>
              <a:t>1) Chat Input Component</a:t>
            </a:r>
            <a:endParaRPr lang="en-IN" sz="1600" dirty="0"/>
          </a:p>
          <a:p>
            <a:pPr lvl="1"/>
            <a:r>
              <a:rPr lang="en-IN" sz="1600" dirty="0"/>
              <a:t>Accepts user shopping queries, product requirements, preferences, and budget-related inputs. </a:t>
            </a:r>
          </a:p>
          <a:p>
            <a:pPr lvl="1"/>
            <a:r>
              <a:rPr lang="en-IN" sz="1600" dirty="0"/>
              <a:t>Acts as the entry point for users to communicate with the AI shopping assistant. </a:t>
            </a:r>
          </a:p>
          <a:p>
            <a:pPr lvl="1"/>
            <a:endParaRPr lang="en-IN" sz="1600" dirty="0"/>
          </a:p>
          <a:p>
            <a:pPr lvl="1"/>
            <a:r>
              <a:rPr lang="en-IN" sz="1600" b="1" dirty="0"/>
              <a:t>2) IBM Granite Model</a:t>
            </a:r>
            <a:endParaRPr lang="en-IN" sz="1600" dirty="0"/>
          </a:p>
          <a:p>
            <a:pPr lvl="1"/>
            <a:r>
              <a:rPr lang="en-IN" sz="1600" dirty="0"/>
              <a:t>Understands user queries and generates intelligent product recommendations. </a:t>
            </a:r>
          </a:p>
          <a:p>
            <a:pPr lvl="1"/>
            <a:r>
              <a:rPr lang="en-IN" sz="1600" dirty="0"/>
              <a:t>Performs natural language processing, reasoning, and personalized response generation based on user needs.</a:t>
            </a:r>
          </a:p>
          <a:p>
            <a:pPr lvl="1"/>
            <a:r>
              <a:rPr lang="en-IN" sz="1600" dirty="0"/>
              <a:t> </a:t>
            </a:r>
          </a:p>
          <a:p>
            <a:pPr lvl="1"/>
            <a:r>
              <a:rPr lang="en-IN" sz="1600" b="1" dirty="0"/>
              <a:t>3) Prompt Template Component</a:t>
            </a:r>
            <a:endParaRPr lang="en-IN" sz="1600" dirty="0"/>
          </a:p>
          <a:p>
            <a:pPr lvl="1"/>
            <a:r>
              <a:rPr lang="en-IN" sz="1600" dirty="0"/>
              <a:t>Provides instructions and context to the model. </a:t>
            </a:r>
          </a:p>
          <a:p>
            <a:pPr lvl="1"/>
            <a:r>
              <a:rPr lang="en-IN" sz="1600" dirty="0"/>
              <a:t>Helps structure user requests and guides the AI to generate accurate and relevant shopping suggestions. </a:t>
            </a:r>
          </a:p>
          <a:p>
            <a:pPr lvl="1"/>
            <a:endParaRPr lang="en-IN" sz="1600" dirty="0"/>
          </a:p>
          <a:p>
            <a:pPr lvl="1"/>
            <a:r>
              <a:rPr lang="en-IN" sz="1600" b="1" dirty="0"/>
              <a:t>4) Chat Output Component</a:t>
            </a:r>
            <a:endParaRPr lang="en-IN" sz="1600" dirty="0"/>
          </a:p>
          <a:p>
            <a:pPr lvl="1"/>
            <a:r>
              <a:rPr lang="en-IN" sz="1600" dirty="0"/>
              <a:t>Displays AI-generated shopping responses. </a:t>
            </a:r>
          </a:p>
          <a:p>
            <a:pPr lvl="1"/>
            <a:r>
              <a:rPr lang="en-IN" sz="1600" dirty="0"/>
              <a:t>Presents recommendations, product comparisons, and purchase guidance in a user-friendly format. </a:t>
            </a:r>
          </a:p>
          <a:p>
            <a:pPr lvl="1"/>
            <a:endParaRPr lang="en-IN" sz="1600" dirty="0"/>
          </a:p>
          <a:p>
            <a:pPr lvl="1"/>
            <a:r>
              <a:rPr lang="en-IN" sz="1600" b="1" dirty="0"/>
              <a:t>5) File/Data Loader Component</a:t>
            </a:r>
            <a:endParaRPr lang="en-IN" sz="1600" dirty="0"/>
          </a:p>
          <a:p>
            <a:pPr lvl="1"/>
            <a:r>
              <a:rPr lang="en-IN" sz="1600" dirty="0"/>
              <a:t>Provides product knowledge and information to the AI agent. </a:t>
            </a:r>
          </a:p>
          <a:p>
            <a:pPr lvl="1"/>
            <a:r>
              <a:rPr lang="en-IN" sz="1600" dirty="0"/>
              <a:t>Helps the system access product details, specifications, and other relevant data for better recommendations. </a:t>
            </a:r>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IBM Orchestrate-</a:t>
            </a:r>
            <a:endParaRPr sz="2400" b="1" dirty="0">
              <a:sym typeface="Times New Roman"/>
            </a:endParaRPr>
          </a:p>
        </p:txBody>
      </p:sp>
      <p:pic>
        <p:nvPicPr>
          <p:cNvPr id="5" name="Picture 4">
            <a:extLst>
              <a:ext uri="{FF2B5EF4-FFF2-40B4-BE49-F238E27FC236}">
                <a16:creationId xmlns:a16="http://schemas.microsoft.com/office/drawing/2014/main" id="{952A7402-A987-1250-F22B-B263A463A250}"/>
              </a:ext>
            </a:extLst>
          </p:cNvPr>
          <p:cNvPicPr>
            <a:picLocks noChangeAspect="1"/>
          </p:cNvPicPr>
          <p:nvPr/>
        </p:nvPicPr>
        <p:blipFill>
          <a:blip r:embed="rId3"/>
          <a:stretch>
            <a:fillRect/>
          </a:stretch>
        </p:blipFill>
        <p:spPr>
          <a:xfrm>
            <a:off x="1022554" y="771747"/>
            <a:ext cx="10146891" cy="5707626"/>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a:p>
        </p:txBody>
      </p:sp>
      <p:pic>
        <p:nvPicPr>
          <p:cNvPr id="5" name="Picture 4">
            <a:extLst>
              <a:ext uri="{FF2B5EF4-FFF2-40B4-BE49-F238E27FC236}">
                <a16:creationId xmlns:a16="http://schemas.microsoft.com/office/drawing/2014/main" id="{57403DE7-62E0-515C-8175-9FDF3B6AA40C}"/>
              </a:ext>
            </a:extLst>
          </p:cNvPr>
          <p:cNvPicPr>
            <a:picLocks noChangeAspect="1"/>
          </p:cNvPicPr>
          <p:nvPr/>
        </p:nvPicPr>
        <p:blipFill>
          <a:blip r:embed="rId3"/>
          <a:stretch>
            <a:fillRect/>
          </a:stretch>
        </p:blipFill>
        <p:spPr>
          <a:xfrm>
            <a:off x="1641373" y="771747"/>
            <a:ext cx="8909254" cy="593950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770537"/>
          </a:xfrm>
          <a:prstGeom prst="rect">
            <a:avLst/>
          </a:prstGeom>
          <a:noFill/>
        </p:spPr>
        <p:txBody>
          <a:bodyPr wrap="square" rtlCol="0">
            <a:spAutoFit/>
          </a:bodyPr>
          <a:lstStyle/>
          <a:p>
            <a:r>
              <a:rPr lang="en-IN" sz="1600" b="1" dirty="0"/>
              <a:t>Role of Agentic AI in </a:t>
            </a:r>
            <a:r>
              <a:rPr lang="en-IN" sz="1600" b="1" dirty="0" err="1"/>
              <a:t>ShopGenie</a:t>
            </a:r>
            <a:r>
              <a:rPr lang="en-IN" sz="1600" b="1" dirty="0"/>
              <a:t> AI</a:t>
            </a:r>
          </a:p>
          <a:p>
            <a:r>
              <a:rPr lang="en-IN" sz="1600" dirty="0"/>
              <a:t>Agentic AI enables </a:t>
            </a:r>
            <a:r>
              <a:rPr lang="en-IN" sz="1600" b="1" dirty="0" err="1"/>
              <a:t>ShopGenie</a:t>
            </a:r>
            <a:r>
              <a:rPr lang="en-IN" sz="1600" b="1" dirty="0"/>
              <a:t> AI</a:t>
            </a:r>
            <a:r>
              <a:rPr lang="en-IN" sz="1600" dirty="0"/>
              <a:t> to function as an intelligent shopping assistant rather than a basic chatbot. Using </a:t>
            </a:r>
            <a:r>
              <a:rPr lang="en-IN" sz="1600" b="1" dirty="0"/>
              <a:t>IBM </a:t>
            </a:r>
            <a:r>
              <a:rPr lang="en-IN" sz="1600" b="1" dirty="0" err="1"/>
              <a:t>watsonx</a:t>
            </a:r>
            <a:r>
              <a:rPr lang="en-IN" sz="1600" b="1" dirty="0"/>
              <a:t> Orchestrate and IBM Granite models</a:t>
            </a:r>
            <a:r>
              <a:rPr lang="en-IN" sz="1600" dirty="0"/>
              <a:t>, it understands user requirements, processes shopping-related queries, and provides personalized product recommendations.</a:t>
            </a:r>
          </a:p>
          <a:p>
            <a:r>
              <a:rPr lang="en-IN" sz="1600" dirty="0"/>
              <a:t>The agent performs multiple intelligent tasks such as </a:t>
            </a:r>
            <a:r>
              <a:rPr lang="en-IN" sz="1600" dirty="0" err="1"/>
              <a:t>analyzing</a:t>
            </a:r>
            <a:r>
              <a:rPr lang="en-IN" sz="1600" dirty="0"/>
              <a:t> user preferences, finding suitable products, comparing options, summarizing reviews, and suggesting better alternatives. This agent-based approach allows the system to handle different shopping needs efficiently and provide relevant responses.</a:t>
            </a:r>
          </a:p>
          <a:p>
            <a:r>
              <a:rPr lang="en-IN" sz="1600" dirty="0"/>
              <a:t>Agentic AI brings </a:t>
            </a:r>
            <a:r>
              <a:rPr lang="en-IN" sz="1600" b="1" dirty="0"/>
              <a:t>context awareness</a:t>
            </a:r>
            <a:r>
              <a:rPr lang="en-IN" sz="1600" dirty="0"/>
              <a:t> by understanding factors such as user budget, product preferences, brand choices, and specific requirements to deliver customized recommendations. It can adapt responses based on changing user inputs and provide real-time shopping guidance.</a:t>
            </a:r>
          </a:p>
          <a:p>
            <a:r>
              <a:rPr lang="en-IN" sz="1600" dirty="0"/>
              <a:t>The AI agent also improves decision-making by evaluating available product information, ratings, and features before suggesting the best options.</a:t>
            </a:r>
          </a:p>
          <a:p>
            <a:r>
              <a:rPr lang="en-IN" sz="1600" dirty="0"/>
              <a:t>Overall, </a:t>
            </a:r>
            <a:r>
              <a:rPr lang="en-IN" sz="1600" b="1" dirty="0"/>
              <a:t>Agentic AI transforms </a:t>
            </a:r>
            <a:r>
              <a:rPr lang="en-IN" sz="1600" b="1" dirty="0" err="1"/>
              <a:t>ShopGenie</a:t>
            </a:r>
            <a:r>
              <a:rPr lang="en-IN" sz="1600" b="1" dirty="0"/>
              <a:t> AI into a proactive, personalized, and goal-oriented shopping companion that helps users discover products and make smarter purchase decisions.</a:t>
            </a:r>
            <a:endParaRPr lang="en-IN"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4770537"/>
          </a:xfrm>
          <a:prstGeom prst="rect">
            <a:avLst/>
          </a:prstGeom>
          <a:noFill/>
        </p:spPr>
        <p:txBody>
          <a:bodyPr wrap="square" rtlCol="0">
            <a:spAutoFit/>
          </a:bodyPr>
          <a:lstStyle/>
          <a:p>
            <a:r>
              <a:rPr lang="en-IN" sz="1600" b="1" dirty="0"/>
              <a:t>Unique Value Proposition of </a:t>
            </a:r>
            <a:r>
              <a:rPr lang="en-IN" sz="1600" b="1" dirty="0" err="1"/>
              <a:t>ShopGenie</a:t>
            </a:r>
            <a:r>
              <a:rPr lang="en-IN" sz="1600" b="1" dirty="0"/>
              <a:t> AI</a:t>
            </a:r>
          </a:p>
          <a:p>
            <a:r>
              <a:rPr lang="en-IN" sz="1600" dirty="0"/>
              <a:t>The proposed </a:t>
            </a:r>
            <a:r>
              <a:rPr lang="en-IN" sz="1600" b="1" dirty="0" err="1"/>
              <a:t>ShopGenie</a:t>
            </a:r>
            <a:r>
              <a:rPr lang="en-IN" sz="1600" b="1" dirty="0"/>
              <a:t> AI</a:t>
            </a:r>
            <a:r>
              <a:rPr lang="en-IN" sz="1600" dirty="0"/>
              <a:t> stands out by combining </a:t>
            </a:r>
            <a:r>
              <a:rPr lang="en-IN" sz="1600" b="1" dirty="0"/>
              <a:t>Agentic AI, intelligent recommendations, and personalized shopping assistance</a:t>
            </a:r>
            <a:r>
              <a:rPr lang="en-IN" sz="1600" dirty="0"/>
              <a:t> into a single smart system.</a:t>
            </a:r>
          </a:p>
          <a:p>
            <a:r>
              <a:rPr lang="en-IN" sz="1600" b="1" dirty="0"/>
              <a:t>Multi-Agent Intelligence</a:t>
            </a:r>
            <a:r>
              <a:rPr lang="en-IN" sz="1600" dirty="0"/>
              <a:t> – Instead of a simple chatbot, intelligent agents work together to understand user needs, </a:t>
            </a:r>
            <a:r>
              <a:rPr lang="en-IN" sz="1600" dirty="0" err="1"/>
              <a:t>analyze</a:t>
            </a:r>
            <a:r>
              <a:rPr lang="en-IN" sz="1600" dirty="0"/>
              <a:t> products, compare options, and provide accurate shopping guidance.</a:t>
            </a:r>
          </a:p>
          <a:p>
            <a:r>
              <a:rPr lang="en-IN" sz="1600" b="1" dirty="0"/>
              <a:t>AI-Based Product Insights</a:t>
            </a:r>
            <a:r>
              <a:rPr lang="en-IN" sz="1600" dirty="0"/>
              <a:t> – Uses AI reasoning to </a:t>
            </a:r>
            <a:r>
              <a:rPr lang="en-IN" sz="1600" dirty="0" err="1"/>
              <a:t>analyze</a:t>
            </a:r>
            <a:r>
              <a:rPr lang="en-IN" sz="1600" dirty="0"/>
              <a:t> product details, ratings, reviews, and specifications to deliver reliable recommendations and reduce decision-making effort.</a:t>
            </a:r>
          </a:p>
          <a:p>
            <a:r>
              <a:rPr lang="en-IN" sz="1600" b="1" dirty="0"/>
              <a:t>Hyper-Personalization</a:t>
            </a:r>
            <a:r>
              <a:rPr lang="en-IN" sz="1600" dirty="0"/>
              <a:t> – Provides customized suggestions based on user preferences, budget, brand choices, and specific shopping requirements.</a:t>
            </a:r>
          </a:p>
          <a:p>
            <a:r>
              <a:rPr lang="en-IN" sz="1600" b="1" dirty="0"/>
              <a:t>Real-Time Shopping Assistance</a:t>
            </a:r>
            <a:r>
              <a:rPr lang="en-IN" sz="1600" dirty="0"/>
              <a:t> – Adapts recommendations according to user queries, changing preferences, and product-related information to provide relevant suggestions.</a:t>
            </a:r>
          </a:p>
          <a:p>
            <a:r>
              <a:rPr lang="en-IN" sz="1600" b="1" dirty="0"/>
              <a:t>Multi-Modal Interaction</a:t>
            </a:r>
            <a:r>
              <a:rPr lang="en-IN" sz="1600" dirty="0"/>
              <a:t> – Supports different user inputs such as text-based queries and product-related searches for a more convenient shopping experience.</a:t>
            </a:r>
          </a:p>
          <a:p>
            <a:r>
              <a:rPr lang="en-IN" sz="1600" b="1" dirty="0"/>
              <a:t>Smart Decision Support</a:t>
            </a:r>
            <a:r>
              <a:rPr lang="en-IN" sz="1600" dirty="0"/>
              <a:t> – Helps users compare products, discover alternatives, and make confident purchase decisions by providing meaningful insights.</a:t>
            </a:r>
          </a:p>
          <a:p>
            <a:r>
              <a:rPr lang="en-IN" sz="1600" b="1" dirty="0"/>
              <a:t>Scalable AI Solution</a:t>
            </a:r>
            <a:r>
              <a:rPr lang="en-IN" sz="1600" dirty="0"/>
              <a:t> – Built using </a:t>
            </a:r>
            <a:r>
              <a:rPr lang="en-IN" sz="1600" b="1" dirty="0"/>
              <a:t>IBM </a:t>
            </a:r>
            <a:r>
              <a:rPr lang="en-IN" sz="1600" b="1" dirty="0" err="1"/>
              <a:t>watsonx</a:t>
            </a:r>
            <a:r>
              <a:rPr lang="en-IN" sz="1600" b="1" dirty="0"/>
              <a:t> Orchestrate and IBM Granite models</a:t>
            </a:r>
            <a:r>
              <a:rPr lang="en-IN" sz="1600" dirty="0"/>
              <a:t>, ensuring reliable AI responses, efficient workflows, and enterprise-level scalability.</a:t>
            </a:r>
          </a:p>
          <a:p>
            <a:r>
              <a:rPr lang="en-IN" sz="1600" dirty="0"/>
              <a:t>Overall, </a:t>
            </a:r>
            <a:r>
              <a:rPr lang="en-IN" sz="1600" b="1" dirty="0" err="1"/>
              <a:t>ShopGenie</a:t>
            </a:r>
            <a:r>
              <a:rPr lang="en-IN" sz="1600" b="1" dirty="0"/>
              <a:t> AI acts as a smart, adaptive, and proactive shopping companion that goes beyond traditional recommendation systems by helping users find the right products with confidence.</a:t>
            </a:r>
            <a:endParaRPr lang="en-IN" sz="1600" dirty="0"/>
          </a:p>
        </p:txBody>
      </p:sp>
    </p:spTree>
    <p:extLst>
      <p:ext uri="{BB962C8B-B14F-4D97-AF65-F5344CB8AC3E}">
        <p14:creationId xmlns:p14="http://schemas.microsoft.com/office/powerpoint/2010/main" val="917964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hlinkClick r:id="rId3"/>
              </a:rPr>
              <a:t>https://github.com/vishakha2609/ShopGenie-AI-Intelligent-Shopping-Assistant</a:t>
            </a:r>
            <a:r>
              <a:rPr lang="en-US" sz="1850" dirty="0">
                <a:solidFill>
                  <a:srgbClr val="2B3541"/>
                </a:solidFill>
                <a:latin typeface="Times New Roman"/>
                <a:ea typeface="Times New Roman"/>
                <a:cs typeface="Times New Roman"/>
                <a:sym typeface="Times New Roman"/>
              </a:rPr>
              <a:t> </a:t>
            </a:r>
            <a:endParaRPr lang="en-US" sz="1850" b="0" i="0" u="none" strike="noStrike" cap="none"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lang="en-US" sz="1850"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lang="en-US" sz="1850" b="0" i="0" u="none" strike="noStrike" cap="none"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IN" sz="1800" b="1" dirty="0"/>
              <a:t>1. Integration with E-Commerce Platforms &amp; Price Tracking Systems</a:t>
            </a:r>
            <a:r>
              <a:rPr lang="en-IN" sz="1800" dirty="0"/>
              <a:t> –</a:t>
            </a:r>
            <a:br>
              <a:rPr lang="en-IN" sz="1800" dirty="0"/>
            </a:br>
            <a:r>
              <a:rPr lang="en-IN" sz="1800" dirty="0"/>
              <a:t>The system can be integrated with multiple e-commerce platforms to collect real-time product information, prices, availability, and offers. This will enable </a:t>
            </a:r>
            <a:r>
              <a:rPr lang="en-IN" sz="1800" dirty="0" err="1"/>
              <a:t>ShopGenie</a:t>
            </a:r>
            <a:r>
              <a:rPr lang="en-IN" sz="1800" dirty="0"/>
              <a:t> AI to provide better price comparisons, detect discounts, and suggest the best time to purchase products.</a:t>
            </a:r>
          </a:p>
          <a:p>
            <a:endParaRPr lang="en-IN" sz="1800" dirty="0"/>
          </a:p>
          <a:p>
            <a:r>
              <a:rPr lang="en-IN" sz="1800" b="1" dirty="0"/>
              <a:t>2. AI-Powered Voice Assistant &amp; Multilingual Support</a:t>
            </a:r>
            <a:r>
              <a:rPr lang="en-IN" sz="1800" dirty="0"/>
              <a:t> –</a:t>
            </a:r>
            <a:br>
              <a:rPr lang="en-IN" sz="1800" dirty="0"/>
            </a:br>
            <a:r>
              <a:rPr lang="en-IN" sz="1800" dirty="0"/>
              <a:t> Enhancing the system with voice-based interaction and multiple language support will                                                                             improve accessibility and user experience. Users will be able to search products, compare    options, and receive recommendations in their preferred language, making the shopping assistant more inclusive and convenient.</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5" name="Picture 4">
            <a:extLst>
              <a:ext uri="{FF2B5EF4-FFF2-40B4-BE49-F238E27FC236}">
                <a16:creationId xmlns:a16="http://schemas.microsoft.com/office/drawing/2014/main" id="{86068316-6179-F244-50EA-27038E4156B0}"/>
              </a:ext>
            </a:extLst>
          </p:cNvPr>
          <p:cNvPicPr>
            <a:picLocks noChangeAspect="1"/>
          </p:cNvPicPr>
          <p:nvPr/>
        </p:nvPicPr>
        <p:blipFill>
          <a:blip r:embed="rId2"/>
          <a:stretch>
            <a:fillRect/>
          </a:stretch>
        </p:blipFill>
        <p:spPr>
          <a:xfrm>
            <a:off x="2418736" y="884488"/>
            <a:ext cx="7551277" cy="5866871"/>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3" name="Picture 2">
            <a:extLst>
              <a:ext uri="{FF2B5EF4-FFF2-40B4-BE49-F238E27FC236}">
                <a16:creationId xmlns:a16="http://schemas.microsoft.com/office/drawing/2014/main" id="{53A5A807-4106-C6AC-FA2C-4AD75F18E0E2}"/>
              </a:ext>
            </a:extLst>
          </p:cNvPr>
          <p:cNvPicPr>
            <a:picLocks noChangeAspect="1"/>
          </p:cNvPicPr>
          <p:nvPr/>
        </p:nvPicPr>
        <p:blipFill>
          <a:blip r:embed="rId2"/>
          <a:stretch>
            <a:fillRect/>
          </a:stretch>
        </p:blipFill>
        <p:spPr>
          <a:xfrm>
            <a:off x="2146471" y="1332757"/>
            <a:ext cx="7899057" cy="4750230"/>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971</TotalTime>
  <Words>1289</Words>
  <Application>Microsoft Office PowerPoint</Application>
  <PresentationFormat>Widescreen</PresentationFormat>
  <Paragraphs>99</Paragraphs>
  <Slides>15</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Vishakha Kadam</cp:lastModifiedBy>
  <cp:revision>17</cp:revision>
  <dcterms:created xsi:type="dcterms:W3CDTF">2025-07-08T05:06:56Z</dcterms:created>
  <dcterms:modified xsi:type="dcterms:W3CDTF">2026-07-15T03:36:43Z</dcterms:modified>
</cp:coreProperties>
</file>